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5" r:id="rId17"/>
    <p:sldId id="262" r:id="rId18"/>
    <p:sldId id="276" r:id="rId19"/>
    <p:sldId id="279" r:id="rId20"/>
    <p:sldId id="278" r:id="rId21"/>
    <p:sldId id="277" r:id="rId22"/>
    <p:sldId id="280" r:id="rId23"/>
    <p:sldId id="281" r:id="rId24"/>
    <p:sldId id="282" r:id="rId25"/>
    <p:sldId id="264" r:id="rId26"/>
    <p:sldId id="26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32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华瑞银行管理系统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A84C"/>
                </a:solidFill>
                <a:latin typeface="Microsoft YaHei"/>
              </a:defRPr>
            </a:pPr>
            <a:r>
              <a:t>HuaRui Bank · 综合业务智能管理平台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1089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Spring Boot + MyBatis 课程实训项目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142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4BC"/>
                </a:solidFill>
                <a:latin typeface="Microsoft YaHei"/>
              </a:defRPr>
            </a:pPr>
            <a:r>
              <a:t>技术栈：Spring Boot 3.4.1 · MyBatis 3.0.4 · MySQL 8.0 · HTML/CSS/JS · ECharts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4814" y="62910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8FA4BC"/>
                </a:solidFill>
                <a:latin typeface="Microsoft YaHei"/>
              </a:defRPr>
            </a:pPr>
            <a:r>
              <a:rPr dirty="0">
                <a:solidFill>
                  <a:schemeClr val="bg1"/>
                </a:solidFill>
              </a:rPr>
              <a:t>汇报日期：2026年7月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B18846-300E-D613-A71C-225A5B65B976}"/>
              </a:ext>
            </a:extLst>
          </p:cNvPr>
          <p:cNvSpPr txBox="1"/>
          <p:nvPr/>
        </p:nvSpPr>
        <p:spPr>
          <a:xfrm>
            <a:off x="832757" y="5193792"/>
            <a:ext cx="6433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汇报人：杨柘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组     员：杨硕涵 隋浩然 李治函 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	</a:t>
            </a:r>
            <a:r>
              <a:rPr lang="zh-CN" altLang="en-US" dirty="0">
                <a:solidFill>
                  <a:schemeClr val="bg1"/>
                </a:solidFill>
              </a:rPr>
              <a:t>王梓晨  南程     翁裕添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137160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53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项目背景、技术架构与开发环境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194560"/>
            <a:ext cx="365760" cy="365760"/>
          </a:xfrm>
          <a:prstGeom prst="ellipse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50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核心数据表结构与关系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9923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rPr dirty="0" err="1"/>
              <a:t>三角色登录系统</a:t>
            </a:r>
            <a:r>
              <a:rPr lang="zh-CN" altLang="en-US" dirty="0"/>
              <a:t>（杨柘）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737360" y="3273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管理员 · 储户 · 客户经理的身份认证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840480"/>
            <a:ext cx="365760" cy="365760"/>
          </a:xfrm>
          <a:prstGeom prst="ellipse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2219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rPr dirty="0" err="1"/>
              <a:t>储户端功能模块</a:t>
            </a:r>
            <a:r>
              <a:rPr lang="zh-CN" altLang="en-US" dirty="0"/>
              <a:t>（南程  翁裕添）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737360" y="40965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dirty="0" err="1"/>
              <a:t>仪表盘、存取款、转账、VIP等级、交易记录</a:t>
            </a:r>
            <a:endParaRPr dirty="0"/>
          </a:p>
        </p:txBody>
      </p:sp>
      <p:sp>
        <p:nvSpPr>
          <p:cNvPr id="18" name="Oval 17"/>
          <p:cNvSpPr/>
          <p:nvPr/>
        </p:nvSpPr>
        <p:spPr>
          <a:xfrm>
            <a:off x="1097280" y="466344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59" y="4645153"/>
            <a:ext cx="8925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rPr dirty="0" err="1"/>
              <a:t>管理员端功能模块</a:t>
            </a:r>
            <a:r>
              <a:rPr lang="zh-CN" altLang="en-US" dirty="0"/>
              <a:t>（杨硕涵 隋浩然 李治函 王梓晨）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737360" y="49194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客户管理、员工管理、网点管理、交易管理、数据仪表盘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486400"/>
            <a:ext cx="365760" cy="365760"/>
          </a:xfrm>
          <a:prstGeom prst="ellipse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46811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rPr dirty="0" err="1"/>
              <a:t>总结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01 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📋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377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本项目为</a:t>
            </a:r>
            <a:r>
              <a:rPr dirty="0">
                <a:latin typeface="+mn-ea"/>
              </a:rPr>
              <a:t> Spring Boot + </a:t>
            </a:r>
            <a:r>
              <a:rPr dirty="0" err="1">
                <a:latin typeface="+mn-ea"/>
              </a:rPr>
              <a:t>MyBatis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课程实训项目</a:t>
            </a:r>
            <a:endParaRPr dirty="0">
              <a:latin typeface="+mn-ea"/>
            </a:endParaRP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模拟真实银行系统的核心业务场景</a:t>
            </a:r>
            <a:endParaRPr dirty="0">
              <a:latin typeface="+mn-ea"/>
            </a:endParaRP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实现前台储户自助服务与后台综合管理两大体系</a:t>
            </a:r>
            <a:endParaRPr dirty="0">
              <a:latin typeface="+mn-ea"/>
            </a:endParaRP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涵盖用户认证、存取款、转账</a:t>
            </a:r>
            <a:r>
              <a:rPr dirty="0">
                <a:latin typeface="+mn-ea"/>
              </a:rPr>
              <a:t>、</a:t>
            </a:r>
            <a:r>
              <a:rPr lang="zh-CN" altLang="en-US" dirty="0">
                <a:latin typeface="+mn-ea"/>
              </a:rPr>
              <a:t>用户</a:t>
            </a:r>
            <a:r>
              <a:rPr dirty="0" err="1">
                <a:latin typeface="+mn-ea"/>
              </a:rPr>
              <a:t>管理等核心功能</a:t>
            </a:r>
            <a:endParaRPr dirty="0">
              <a:latin typeface="+mn-ea"/>
            </a:endParaRP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采用前后端分离思想，前端纯</a:t>
            </a:r>
            <a:r>
              <a:rPr dirty="0">
                <a:latin typeface="+mn-ea"/>
              </a:rPr>
              <a:t> HTML/CSS/JS </a:t>
            </a:r>
            <a:r>
              <a:rPr dirty="0" err="1">
                <a:latin typeface="+mn-ea"/>
              </a:rPr>
              <a:t>实现</a:t>
            </a:r>
            <a:endParaRPr dirty="0">
              <a:latin typeface="+mn-ea"/>
            </a:endParaRP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>
                <a:latin typeface="+mn-ea"/>
              </a:rPr>
              <a:t>后端基于</a:t>
            </a:r>
            <a:r>
              <a:rPr dirty="0">
                <a:latin typeface="+mn-ea"/>
              </a:rPr>
              <a:t> RESTful API </a:t>
            </a:r>
            <a:r>
              <a:rPr dirty="0" err="1">
                <a:latin typeface="+mn-ea"/>
              </a:rPr>
              <a:t>设计，数据持久化用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MyBatis</a:t>
            </a:r>
            <a:endParaRPr dirty="0">
              <a:latin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81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🛠 技术架构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后端框架：Spring</a:t>
            </a:r>
            <a:r>
              <a:rPr dirty="0"/>
              <a:t> Boot 3.4.1 (Java 17)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持久层：MyBatis</a:t>
            </a:r>
            <a:r>
              <a:rPr dirty="0"/>
              <a:t> 3.0.4 + MySQL 8.0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前端：原生</a:t>
            </a:r>
            <a:r>
              <a:rPr dirty="0"/>
              <a:t> HTML5 + CSS3 + JavaScript (ES6+)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图表可视化：ECharts</a:t>
            </a:r>
            <a:r>
              <a:rPr dirty="0"/>
              <a:t> 5.5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构建工具：Maven</a:t>
            </a:r>
            <a:r>
              <a:rPr dirty="0"/>
              <a:t> (Spring Boot Maven Plugin)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项目结构：Controller</a:t>
            </a:r>
            <a:r>
              <a:rPr dirty="0"/>
              <a:t> → Service → Mapper </a:t>
            </a:r>
            <a:r>
              <a:rPr dirty="0" err="1"/>
              <a:t>三层架构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10972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login.html · user.html · admin.html · dashboard.html · 各管理子页面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1097280" cy="36576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控制层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UserController · DashboardController · BranchController · EmployeeController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10972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UserService · AdminService · EmployeeService · BussService · UserVipService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77840"/>
            <a:ext cx="109728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持久层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UserMapper · AdminMapper · EmployeeMapper · BussMapper · UserVipMapper (MyBatis XML)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035040"/>
            <a:ext cx="10972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035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MySQL 8.0 (bank库) · user · admin · employee · branch · bussioness · user_vip ·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02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admin (管理员表)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27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username, password, name, phone, email, status, create_time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user (储户表)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9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username, password, name, gender, age, card, phone, money,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73152" cy="5029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Microsoft YaHei"/>
              </a:defRPr>
            </a:pPr>
            <a:r>
              <a:t>employee (员工表)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username, password, name, gender, age, phone, email, position, salary, branch_id,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Microsoft YaHei"/>
              </a:defRPr>
            </a:pPr>
            <a:r>
              <a:t>branch (网点表)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name, address, phone, manager_name, description, status, create_time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7315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bussioness (交易流水表)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537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uid, type, amount, create_time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user_vip (VIP等级表)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85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level_name, level_code, min_balance, discount_rate, color, icon, benefits, sort_order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role (角色表)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0167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id, role_name, permissions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⭐ VIP等级设计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19202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👤 普通会员 — 余额 ≥ 0元 — 无折扣</a:t>
            </a:r>
          </a:p>
          <a:p>
            <a:pPr>
              <a:spcAft>
                <a:spcPts val="10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🥉 VIP铜卡 — 余额 ≥ 1万元 — 9.8折</a:t>
            </a:r>
          </a:p>
          <a:p>
            <a:pPr>
              <a:spcAft>
                <a:spcPts val="10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🥈 VIP银卡 — 余额 ≥ 5万元 — 9.5折</a:t>
            </a:r>
          </a:p>
          <a:p>
            <a:pPr>
              <a:spcAft>
                <a:spcPts val="10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🥇 VIP金卡 — 余额 ≥ 10万元 — 9折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5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设计思路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9319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VIP等级由数据库 user_vip 表定义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根据用户余额动态匹配等级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findByBalance: 取 min_balance ≤ 余额的最大记录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支持折扣率、颜色、图标、权益描述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DataInitializer 启动时自动建表插入种子数据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前后端统一从数据库获取，避免硬编码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rPr dirty="0"/>
              <a:t>03  </a:t>
            </a:r>
            <a:r>
              <a:rPr dirty="0" err="1"/>
              <a:t>三角色登录系统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MULTI-ROLE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🔐 登录验证流程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1. </a:t>
            </a:r>
            <a:r>
              <a:rPr dirty="0" err="1"/>
              <a:t>用户在登录页输入用户名、密码</a:t>
            </a:r>
            <a:r>
              <a:rPr dirty="0"/>
              <a:t> → </a:t>
            </a:r>
            <a:r>
              <a:rPr dirty="0" err="1"/>
              <a:t>选择身份角色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2. </a:t>
            </a:r>
            <a:r>
              <a:rPr dirty="0" err="1"/>
              <a:t>前端通过</a:t>
            </a:r>
            <a:r>
              <a:rPr dirty="0"/>
              <a:t> fetch POST /</a:t>
            </a:r>
            <a:r>
              <a:rPr dirty="0" err="1"/>
              <a:t>api</a:t>
            </a:r>
            <a:r>
              <a:rPr dirty="0"/>
              <a:t>/login </a:t>
            </a:r>
            <a:r>
              <a:rPr dirty="0" err="1"/>
              <a:t>提交表单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3. </a:t>
            </a:r>
            <a:r>
              <a:rPr dirty="0" err="1"/>
              <a:t>后端</a:t>
            </a:r>
            <a:r>
              <a:rPr dirty="0"/>
              <a:t> </a:t>
            </a:r>
            <a:r>
              <a:rPr dirty="0" err="1"/>
              <a:t>UserController</a:t>
            </a:r>
            <a:r>
              <a:rPr dirty="0"/>
              <a:t> </a:t>
            </a:r>
            <a:r>
              <a:rPr dirty="0" err="1"/>
              <a:t>根据</a:t>
            </a:r>
            <a:r>
              <a:rPr dirty="0"/>
              <a:t> role </a:t>
            </a:r>
            <a:r>
              <a:rPr dirty="0" err="1"/>
              <a:t>参数路由</a:t>
            </a:r>
            <a:r>
              <a:rPr dirty="0"/>
              <a:t>：</a:t>
            </a:r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   · role=admin  → </a:t>
            </a:r>
            <a:r>
              <a:rPr dirty="0" err="1"/>
              <a:t>查询</a:t>
            </a:r>
            <a:r>
              <a:rPr dirty="0"/>
              <a:t> admin 表 (</a:t>
            </a:r>
            <a:r>
              <a:rPr dirty="0" err="1"/>
              <a:t>AdminService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   · role=user   → </a:t>
            </a:r>
            <a:r>
              <a:rPr dirty="0" err="1"/>
              <a:t>查询</a:t>
            </a:r>
            <a:r>
              <a:rPr dirty="0"/>
              <a:t> user 表 (</a:t>
            </a:r>
            <a:r>
              <a:rPr dirty="0" err="1"/>
              <a:t>UserService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   · role=manager → </a:t>
            </a:r>
            <a:r>
              <a:rPr dirty="0" err="1"/>
              <a:t>查询</a:t>
            </a:r>
            <a:r>
              <a:rPr dirty="0"/>
              <a:t> employee 表 (</a:t>
            </a:r>
            <a:r>
              <a:rPr dirty="0" err="1"/>
              <a:t>EmployeeService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4. </a:t>
            </a:r>
            <a:r>
              <a:rPr dirty="0" err="1"/>
              <a:t>验证成功后返回用户信息</a:t>
            </a:r>
            <a:r>
              <a:rPr dirty="0"/>
              <a:t> + </a:t>
            </a:r>
            <a:r>
              <a:rPr dirty="0" err="1"/>
              <a:t>VIP等级</a:t>
            </a:r>
            <a:r>
              <a:rPr dirty="0"/>
              <a:t> + </a:t>
            </a:r>
            <a:r>
              <a:rPr dirty="0" err="1"/>
              <a:t>角色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5. </a:t>
            </a:r>
            <a:r>
              <a:rPr dirty="0" err="1"/>
              <a:t>前端根据</a:t>
            </a:r>
            <a:r>
              <a:rPr dirty="0"/>
              <a:t> role 跳转：管理员→admin.html / 储户→user.html</a:t>
            </a:r>
          </a:p>
          <a:p>
            <a:pPr>
              <a:spcAft>
                <a:spcPts val="8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6. </a:t>
            </a:r>
            <a:r>
              <a:rPr dirty="0" err="1"/>
              <a:t>严格隔离：不同角色使用独立数据库表，无法越权登录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👑 管理员 (admin)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系统最高权限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登录账户：admin / admin123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访问管理后台 admin.html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客户管理 · 员工管理 · 网点管理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账户管理 · 交易管理 · 角色管理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t>数据仪表盘 (ECharts可视化)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530352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10896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82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👤 储户 (user)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564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个人自助服务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47548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示例账户：</a:t>
            </a:r>
            <a:r>
              <a:rPr lang="en-US" altLang="zh-CN" dirty="0"/>
              <a:t>u101/123456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访问个人银行</a:t>
            </a:r>
            <a:r>
              <a:rPr dirty="0"/>
              <a:t> user.html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存款</a:t>
            </a:r>
            <a:r>
              <a:rPr dirty="0"/>
              <a:t> · </a:t>
            </a:r>
            <a:r>
              <a:rPr dirty="0" err="1"/>
              <a:t>取款</a:t>
            </a:r>
            <a:r>
              <a:rPr dirty="0"/>
              <a:t> · </a:t>
            </a:r>
            <a:r>
              <a:rPr dirty="0" err="1"/>
              <a:t>转账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VIP等级查看</a:t>
            </a:r>
            <a:r>
              <a:rPr dirty="0"/>
              <a:t> · </a:t>
            </a:r>
            <a:r>
              <a:rPr dirty="0" err="1"/>
              <a:t>交易记录查询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个人信息管理</a:t>
            </a:r>
            <a:r>
              <a:rPr dirty="0"/>
              <a:t> · </a:t>
            </a:r>
            <a:r>
              <a:rPr dirty="0" err="1"/>
              <a:t>修改密码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217920" y="4937760"/>
            <a:ext cx="530352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93776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5010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💼 客户经理 (manager)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852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业务管理权限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32120"/>
            <a:ext cx="47548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示例账户</a:t>
            </a:r>
            <a:r>
              <a:rPr dirty="0"/>
              <a:t>：</a:t>
            </a:r>
            <a:r>
              <a:rPr lang="en-US" altLang="zh-CN" dirty="0"/>
              <a:t> </a:t>
            </a:r>
            <a:r>
              <a:rPr lang="en-US" altLang="zh-CN" dirty="0" err="1"/>
              <a:t>zhangsan</a:t>
            </a:r>
            <a:r>
              <a:rPr lang="en-US" altLang="zh-CN" dirty="0"/>
              <a:t> / 123456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共享管理后台</a:t>
            </a:r>
            <a:r>
              <a:rPr dirty="0"/>
              <a:t> admin.html</a:t>
            </a:r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客户管理</a:t>
            </a:r>
            <a:r>
              <a:rPr dirty="0"/>
              <a:t> · </a:t>
            </a:r>
            <a:r>
              <a:rPr dirty="0" err="1"/>
              <a:t>员工管理</a:t>
            </a:r>
            <a:r>
              <a:rPr dirty="0"/>
              <a:t> · </a:t>
            </a:r>
            <a:r>
              <a:rPr dirty="0" err="1"/>
              <a:t>网点管理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数据仪表盘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不可访问账户管理</a:t>
            </a:r>
            <a:r>
              <a:rPr dirty="0"/>
              <a:t>/</a:t>
            </a:r>
            <a:r>
              <a:rPr dirty="0" err="1"/>
              <a:t>交易管理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7A96E0-1237-10E9-5BAC-EB3FF36D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998"/>
            <a:ext cx="12384505" cy="745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1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04  储户端功能模块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USER SELF-SERVICE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11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01168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📂 导航菜单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📊 仪表盘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💰 存款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💸 取款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📤 转账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🔒 修改密码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👤 个人信息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📋 交易记录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371600"/>
            <a:ext cx="4389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7520" y="1371600"/>
            <a:ext cx="438912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481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📊 仪表盘 (Dashboard)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2880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余额横幅：实时显示当前账户余额 + VIP徽章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VIP等级：根据余额自动匹配，后台API动态获取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快捷卡片：存款/取款/转账/改密/资产 一键跳转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最近交易：展示最新5笔交易流水 (类型/金额/状态)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3716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371600"/>
            <a:ext cx="39319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💳 存取款 &amp; 转账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存款：支持现金/转账方式，即时到账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取款：余额校验，不可透支，日限额10万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转账：银行卡号+姓名双重验证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操作后自动刷新余额和VIP等级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93192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0" y="3931920"/>
            <a:ext cx="4389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40416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📋 交易记录 (Transactions)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8912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筛选栏：按类型(存款/取款/转账) + 日期范围筛选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统计卡片：总笔数 · 收入合计 · 支出合计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明细表格：流水号/时间/类型/金额/对方账号/状态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数据实时从数据库 bussioness 表读取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93192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80960" y="3931920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0416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👤 个人信息 &amp; VIP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3891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个人资料编辑：姓名/年龄/性别/手机号可修改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账户信息展示：状态/类型/卡号/余额(只读)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VIP等级：图标+等级名+颜色，跟随余额动态变化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修改密码：原密码验证 → 新密码确认 → 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B27CB1-076B-3D94-35FF-B5119DDBF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2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8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B159C5-9BEC-11C5-4A80-C6E9DA0A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06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270D79-A6DA-4BC7-4157-88E37F605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68" y="698904"/>
            <a:ext cx="12192000" cy="481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2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95F001-137A-04DF-C0B8-E21A97E5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6" y="0"/>
            <a:ext cx="11686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6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4021D9-8400-42F9-CB85-0DFFBE2A7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0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47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FC484-AA87-1C0F-8041-F1A923FC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2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3051B0-5396-ECD2-36C7-0D945CA4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57"/>
            <a:ext cx="8945223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2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29ADDF-2CC0-A2FA-0142-69D8331E1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76"/>
            <a:ext cx="12192000" cy="653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6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9DB72-90DB-0EAC-4FB2-D594A124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37" y="0"/>
            <a:ext cx="11761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05  管理员端功能模块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ADMIN MANAGEMENT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11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01168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📂 管理菜单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🏠 首页 (仪表盘)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👥 客户管理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👤 员工管理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🏢 网点管理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💳 账户管理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📋 交易管理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🔐 角色管理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371600"/>
            <a:ext cx="4572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7520" y="1371600"/>
            <a:ext cx="457200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4813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📊 数据仪表盘 (ECharts)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2880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统计卡片：客户总数/在职员工/营业网点/总存款额 (含动画)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交易趋势图：近7日交易额(万元) + 交易笔数 (折线+柱状)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存款分布饼图：按VIP等级分档统计各类存款占比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进度条：各类存款指标完成进度 (数据来自VIP等级表)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最新交易动态：实时展示最近10笔流水明细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4813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🔧 业务管理功能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33832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客户管理：查询/搜索/新增/编辑/删除储户信息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员工管理：管理在职员工档案及所属网点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网点管理：营业网点增删改查，状态维护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账户管理：查看所有账户余额，支持存取款操作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交易管理：查看全部交易流水，筛选统计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角色管理：定义角色及对应权限列表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iframe架构：子页面独立加载，导航切换流畅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2400E"/>
                </a:solidFill>
                <a:latin typeface="Microsoft YaHei"/>
              </a:defRPr>
            </a:pPr>
            <a:r>
              <a:rPr dirty="0"/>
              <a:t>💡 </a:t>
            </a:r>
            <a:r>
              <a:rPr dirty="0" err="1"/>
              <a:t>客户经理登录后共享同一管理后台，但根据角色自动隐藏账户管理和交易管理菜单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A144F1-139C-AAAB-FC5F-FA8CBB2C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9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60304A-172E-87C0-0B90-485428A2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18" y="0"/>
            <a:ext cx="11601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3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DCAB1A-80E0-6111-131B-33AEE09D8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56" y="0"/>
            <a:ext cx="11690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59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B96EAC-D00C-D3CF-8762-312196F0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07"/>
            <a:ext cx="12192000" cy="68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94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9796B3-9644-0B7C-3B4C-DC94D941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6" y="0"/>
            <a:ext cx="11537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18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B43598-9934-D181-C78C-B0C7D521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60" y="0"/>
            <a:ext cx="11483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99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68FE05-3FDF-D8CF-22E4-45D7AE1D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7" y="0"/>
            <a:ext cx="11292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38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项目总结与收获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SUMMARY &amp; KEY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t>📚 技术收获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掌握了 Spring Boot + MyBatis 完整开发流程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理解了 RESTful API 设计原则与 JSON 交互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实践了三层架构：Controller → Service → Mapper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学习了 MyBatis XML 动态 SQL 编写 (条件查询/分页/聚合)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熟悉了 ECharts 在前端的集成与配置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体会了前后端分离的协作模式 (sessionStorage + fetch)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81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💡 能力提升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数据库设计：表结构定义、字段类型选择、索引设计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业务抽象：将银行核心业务转化为系统功能模块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UI/UX 设计：CSS 变量、动画、响应式布局实践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问题排查：从后端SQL到前端JS的全链路调试能力</a:t>
            </a:r>
          </a:p>
          <a:p>
            <a:pPr>
              <a:spcAft>
                <a:spcPts val="8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t>项目规划：模块拆分与增量开发的经验积累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华瑞银行管理系统 · Spring Boot + MyBatis 实训项目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4BC"/>
                </a:solidFill>
                <a:latin typeface="Microsoft YaHei"/>
              </a:defRPr>
            </a:pPr>
            <a:r>
              <a:t>技术栈：Spring Boot 3.4.1 · MyBatis 3.0.4 · MySQL 8.0 · ECharts 5.5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8FA4BC"/>
                </a:solidFill>
                <a:latin typeface="Microsoft YaHei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1093</Words>
  <Application>Microsoft Office PowerPoint</Application>
  <PresentationFormat>宽屏</PresentationFormat>
  <Paragraphs>191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unike jack</cp:lastModifiedBy>
  <cp:revision>11</cp:revision>
  <dcterms:created xsi:type="dcterms:W3CDTF">2013-01-27T09:14:16Z</dcterms:created>
  <dcterms:modified xsi:type="dcterms:W3CDTF">2026-07-14T08:06:19Z</dcterms:modified>
  <cp:category/>
</cp:coreProperties>
</file>